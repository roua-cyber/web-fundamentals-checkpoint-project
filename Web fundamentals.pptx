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Source Code Pro"/>
      <p:regular r:id="rId16"/>
      <p:bold r:id="rId17"/>
      <p:italic r:id="rId18"/>
      <p:boldItalic r:id="rId19"/>
    </p:embeddedFont>
    <p:embeddedFont>
      <p:font typeface="Oswal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ourceCodePro-bold.fntdata"/><Relationship Id="rId16" Type="http://schemas.openxmlformats.org/officeDocument/2006/relationships/font" Target="fonts/SourceCodePro-regular.fntdata"/><Relationship Id="rId5" Type="http://schemas.openxmlformats.org/officeDocument/2006/relationships/notesMaster" Target="notesMasters/notesMaster1.xml"/><Relationship Id="rId19" Type="http://schemas.openxmlformats.org/officeDocument/2006/relationships/font" Target="fonts/SourceCodePro-boldItalic.fntdata"/><Relationship Id="rId6" Type="http://schemas.openxmlformats.org/officeDocument/2006/relationships/slide" Target="slides/slide1.xml"/><Relationship Id="rId18" Type="http://schemas.openxmlformats.org/officeDocument/2006/relationships/font" Target="fonts/SourceCodePr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mozilla.org/en-US/docs/Glossary/Protoco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80d1f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80d1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80d1ff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80d1f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542f301f1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542f301f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333333"/>
              </a:buClr>
              <a:buSzPts val="1200"/>
              <a:buChar char="●"/>
            </a:pPr>
            <a:r>
              <a:rPr lang="fr" sz="1200">
                <a:solidFill>
                  <a:srgbClr val="333333"/>
                </a:solidFill>
                <a:highlight>
                  <a:srgbClr val="FFFFFF"/>
                </a:highlight>
              </a:rPr>
              <a:t>Clients are the typical web user's internet-connected devices (for example, your computer connected to your Wi-Fi, or your phone connected to your mobile network) and web-accessing software available on those devices (usually a web browser like Firefox or Chrome).</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lang="fr" sz="1200">
                <a:solidFill>
                  <a:srgbClr val="333333"/>
                </a:solidFill>
                <a:highlight>
                  <a:srgbClr val="FFFFFF"/>
                </a:highlight>
              </a:rPr>
              <a:t>Servers are computers that store webpages, sites, or apps. When a client device wants to access a webpage, a copy of the webpage is downloaded from the server onto the client machine to be displayed in the user's web browser.</a:t>
            </a:r>
            <a:endParaRPr sz="1200">
              <a:solidFill>
                <a:srgbClr val="333333"/>
              </a:solidFill>
              <a:highlight>
                <a:srgbClr val="FFFFFF"/>
              </a:highlight>
            </a:endParaRPr>
          </a:p>
          <a:p>
            <a:pPr indent="0" lvl="0" marL="0" rtl="0" algn="l">
              <a:lnSpc>
                <a:spcPct val="120000"/>
              </a:lnSpc>
              <a:spcBef>
                <a:spcPts val="4500"/>
              </a:spcBef>
              <a:spcAft>
                <a:spcPts val="0"/>
              </a:spcAft>
              <a:buClr>
                <a:schemeClr val="dk1"/>
              </a:buClr>
              <a:buSzPts val="1100"/>
              <a:buFont typeface="Arial"/>
              <a:buNone/>
            </a:pPr>
            <a:r>
              <a:t/>
            </a:r>
            <a:endParaRPr b="1" sz="1700">
              <a:solidFill>
                <a:srgbClr val="333333"/>
              </a:solidFill>
              <a:highlight>
                <a:srgbClr val="FFFFFF"/>
              </a:highlight>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542f301f19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542f301f1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333333"/>
              </a:buClr>
              <a:buSzPts val="1200"/>
              <a:buChar char="●"/>
            </a:pPr>
            <a:r>
              <a:rPr b="1" lang="fr" sz="1200">
                <a:solidFill>
                  <a:srgbClr val="333333"/>
                </a:solidFill>
                <a:highlight>
                  <a:srgbClr val="FFFFFF"/>
                </a:highlight>
              </a:rPr>
              <a:t>Your internet connection</a:t>
            </a:r>
            <a:r>
              <a:rPr lang="fr" sz="1200">
                <a:solidFill>
                  <a:srgbClr val="333333"/>
                </a:solidFill>
                <a:highlight>
                  <a:srgbClr val="FFFFFF"/>
                </a:highlight>
              </a:rPr>
              <a:t>: Allows you to send and receive data on the web. It's basically like the street between your house and the shop.</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b="1" lang="fr" sz="1200">
                <a:solidFill>
                  <a:srgbClr val="333333"/>
                </a:solidFill>
                <a:highlight>
                  <a:srgbClr val="FFFFFF"/>
                </a:highlight>
              </a:rPr>
              <a:t>TCP/IP</a:t>
            </a:r>
            <a:r>
              <a:rPr lang="fr" sz="1200">
                <a:solidFill>
                  <a:srgbClr val="333333"/>
                </a:solidFill>
                <a:highlight>
                  <a:srgbClr val="FFFFFF"/>
                </a:highlight>
              </a:rPr>
              <a:t>: Transmission Control Protocol and Internet Protocol are communication protocols that define how data should travel across the internet. This is like the transport mechanisms that let you place an order, go to the shop, and buy your goods. In our example, this is like a car or a bike (or however else you might get around).</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b="1" lang="fr" sz="1200">
                <a:solidFill>
                  <a:srgbClr val="333333"/>
                </a:solidFill>
                <a:highlight>
                  <a:srgbClr val="FFFFFF"/>
                </a:highlight>
              </a:rPr>
              <a:t>DNS</a:t>
            </a:r>
            <a:r>
              <a:rPr lang="fr" sz="1200">
                <a:solidFill>
                  <a:srgbClr val="333333"/>
                </a:solidFill>
                <a:highlight>
                  <a:srgbClr val="FFFFFF"/>
                </a:highlight>
              </a:rPr>
              <a:t>: Domain Name Servers are like an address book for websites. When you type a web address in your browser, the browser looks at the DNS to find the website's real address before it can retrieve the website. The browser needs to find out which server the website lives on, so it can send HTTP messages to the right place (see below). This is like looking up the address of the shop so you can access it.</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b="1" lang="fr" sz="1200">
                <a:solidFill>
                  <a:srgbClr val="333333"/>
                </a:solidFill>
                <a:highlight>
                  <a:srgbClr val="FFFFFF"/>
                </a:highlight>
              </a:rPr>
              <a:t>HTTP</a:t>
            </a:r>
            <a:r>
              <a:rPr lang="fr" sz="1200">
                <a:solidFill>
                  <a:srgbClr val="333333"/>
                </a:solidFill>
                <a:highlight>
                  <a:srgbClr val="FFFFFF"/>
                </a:highlight>
              </a:rPr>
              <a:t>: Hypertext Transfer Protocol is an application </a:t>
            </a:r>
            <a:r>
              <a:rPr lang="fr" sz="1200">
                <a:solidFill>
                  <a:srgbClr val="3D7E9A"/>
                </a:solidFill>
                <a:highlight>
                  <a:srgbClr val="FFFFFF"/>
                </a:highlight>
                <a:uFill>
                  <a:noFill/>
                </a:uFill>
                <a:hlinkClick r:id="rId2">
                  <a:extLst>
                    <a:ext uri="{A12FA001-AC4F-418D-AE19-62706E023703}">
                      <ahyp:hlinkClr val="tx"/>
                    </a:ext>
                  </a:extLst>
                </a:hlinkClick>
              </a:rPr>
              <a:t>protocol</a:t>
            </a:r>
            <a:r>
              <a:rPr lang="fr" sz="1200">
                <a:solidFill>
                  <a:srgbClr val="333333"/>
                </a:solidFill>
                <a:highlight>
                  <a:srgbClr val="FFFFFF"/>
                </a:highlight>
              </a:rPr>
              <a:t> that defines a language for clients and servers to speak to each other. This is like the language you use to order your goods.</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b="1" lang="fr" sz="1200">
                <a:solidFill>
                  <a:srgbClr val="333333"/>
                </a:solidFill>
                <a:highlight>
                  <a:srgbClr val="FFFFFF"/>
                </a:highlight>
              </a:rPr>
              <a:t>Component files</a:t>
            </a:r>
            <a:r>
              <a:rPr lang="fr" sz="1200">
                <a:solidFill>
                  <a:srgbClr val="333333"/>
                </a:solidFill>
                <a:highlight>
                  <a:srgbClr val="FFFFFF"/>
                </a:highlight>
              </a:rPr>
              <a:t>: A website is made up of many different files, which are like the different parts of the goods you buy from the shop. These files come in two main types:</a:t>
            </a:r>
            <a:endParaRPr sz="1200">
              <a:solidFill>
                <a:srgbClr val="333333"/>
              </a:solidFill>
              <a:highlight>
                <a:srgbClr val="FFFFFF"/>
              </a:highlight>
            </a:endParaRPr>
          </a:p>
          <a:p>
            <a:pPr indent="-304800" lvl="1" marL="914400" rtl="0" algn="l">
              <a:lnSpc>
                <a:spcPct val="115000"/>
              </a:lnSpc>
              <a:spcBef>
                <a:spcPts val="0"/>
              </a:spcBef>
              <a:spcAft>
                <a:spcPts val="0"/>
              </a:spcAft>
              <a:buClr>
                <a:srgbClr val="333333"/>
              </a:buClr>
              <a:buSzPts val="1200"/>
              <a:buAutoNum type="alphaLcPeriod"/>
            </a:pPr>
            <a:r>
              <a:rPr b="1" lang="fr" sz="1200">
                <a:solidFill>
                  <a:srgbClr val="333333"/>
                </a:solidFill>
                <a:highlight>
                  <a:srgbClr val="FFFFFF"/>
                </a:highlight>
              </a:rPr>
              <a:t>Code files</a:t>
            </a:r>
            <a:r>
              <a:rPr lang="fr" sz="1200">
                <a:solidFill>
                  <a:srgbClr val="333333"/>
                </a:solidFill>
                <a:highlight>
                  <a:srgbClr val="FFFFFF"/>
                </a:highlight>
              </a:rPr>
              <a:t>: Websites are built primarily from HTML, CSS, and JavaScript, though you'll meet other technologies a bit later.</a:t>
            </a:r>
            <a:endParaRPr sz="1200">
              <a:solidFill>
                <a:srgbClr val="333333"/>
              </a:solidFill>
              <a:highlight>
                <a:srgbClr val="FFFFFF"/>
              </a:highlight>
            </a:endParaRPr>
          </a:p>
          <a:p>
            <a:pPr indent="-304800" lvl="1" marL="914400" rtl="0" algn="l">
              <a:lnSpc>
                <a:spcPct val="115000"/>
              </a:lnSpc>
              <a:spcBef>
                <a:spcPts val="0"/>
              </a:spcBef>
              <a:spcAft>
                <a:spcPts val="0"/>
              </a:spcAft>
              <a:buClr>
                <a:srgbClr val="333333"/>
              </a:buClr>
              <a:buSzPts val="1200"/>
              <a:buAutoNum type="alphaLcPeriod"/>
            </a:pPr>
            <a:r>
              <a:rPr b="1" lang="fr" sz="1200">
                <a:solidFill>
                  <a:srgbClr val="333333"/>
                </a:solidFill>
                <a:highlight>
                  <a:srgbClr val="FFFFFF"/>
                </a:highlight>
              </a:rPr>
              <a:t>Assets</a:t>
            </a:r>
            <a:r>
              <a:rPr lang="fr" sz="1200">
                <a:solidFill>
                  <a:srgbClr val="333333"/>
                </a:solidFill>
                <a:highlight>
                  <a:srgbClr val="FFFFFF"/>
                </a:highlight>
              </a:rPr>
              <a:t>: This is a collective name for all the other stuff that makes up a website, such as images, music, video, Word documents, and PDFs.</a:t>
            </a:r>
            <a:endParaRPr sz="1200">
              <a:solidFill>
                <a:srgbClr val="333333"/>
              </a:solidFill>
              <a:highlight>
                <a:srgbClr val="FFFFFF"/>
              </a:highlight>
            </a:endParaRPr>
          </a:p>
          <a:p>
            <a:pPr indent="0" lvl="0" marL="457200" rtl="0" algn="l">
              <a:lnSpc>
                <a:spcPct val="115000"/>
              </a:lnSpc>
              <a:spcBef>
                <a:spcPts val="4600"/>
              </a:spcBef>
              <a:spcAft>
                <a:spcPts val="0"/>
              </a:spcAft>
              <a:buNone/>
            </a:pPr>
            <a:r>
              <a:t/>
            </a:r>
            <a:endParaRPr sz="1200">
              <a:solidFill>
                <a:srgbClr val="333333"/>
              </a:solidFill>
              <a:highlight>
                <a:srgbClr val="FFFFFF"/>
              </a:highlight>
            </a:endParaRPr>
          </a:p>
          <a:p>
            <a:pPr indent="0" lvl="0" marL="0" rtl="0" algn="l">
              <a:lnSpc>
                <a:spcPct val="120000"/>
              </a:lnSpc>
              <a:spcBef>
                <a:spcPts val="4500"/>
              </a:spcBef>
              <a:spcAft>
                <a:spcPts val="0"/>
              </a:spcAft>
              <a:buNone/>
            </a:pPr>
            <a:r>
              <a:t/>
            </a:r>
            <a:endParaRPr b="1" sz="1700">
              <a:solidFill>
                <a:srgbClr val="333333"/>
              </a:solidFill>
              <a:highlight>
                <a:srgbClr val="FFFFFF"/>
              </a:highlight>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542f301f19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542f301f1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542f301f19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542f301f1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542f301f19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542f301f1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542f301f19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542f301f1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542f301f19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542f301f1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542f301f19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542f301f1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Web fundamentals Chekpoint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How does the web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a:t>Clients and servers</a:t>
            </a:r>
            <a:endParaRPr b="1"/>
          </a:p>
        </p:txBody>
      </p:sp>
      <p:sp>
        <p:nvSpPr>
          <p:cNvPr id="73" name="Google Shape;73;p15"/>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rgbClr val="333333"/>
                </a:solidFill>
                <a:highlight>
                  <a:srgbClr val="FFFFFF"/>
                </a:highlight>
                <a:latin typeface="Arial"/>
                <a:ea typeface="Arial"/>
                <a:cs typeface="Arial"/>
                <a:sym typeface="Arial"/>
              </a:rPr>
              <a:t>Computers connected to the web are called </a:t>
            </a:r>
            <a:r>
              <a:rPr b="1" lang="fr" sz="1200">
                <a:solidFill>
                  <a:srgbClr val="333333"/>
                </a:solidFill>
                <a:highlight>
                  <a:srgbClr val="FFFFFF"/>
                </a:highlight>
                <a:latin typeface="Arial"/>
                <a:ea typeface="Arial"/>
                <a:cs typeface="Arial"/>
                <a:sym typeface="Arial"/>
              </a:rPr>
              <a:t>clients </a:t>
            </a:r>
            <a:r>
              <a:rPr lang="fr" sz="1200">
                <a:solidFill>
                  <a:srgbClr val="333333"/>
                </a:solidFill>
                <a:highlight>
                  <a:srgbClr val="FFFFFF"/>
                </a:highlight>
                <a:latin typeface="Arial"/>
                <a:ea typeface="Arial"/>
                <a:cs typeface="Arial"/>
                <a:sym typeface="Arial"/>
              </a:rPr>
              <a:t>and </a:t>
            </a:r>
            <a:r>
              <a:rPr b="1" lang="fr" sz="1200">
                <a:solidFill>
                  <a:srgbClr val="333333"/>
                </a:solidFill>
                <a:highlight>
                  <a:srgbClr val="FFFFFF"/>
                </a:highlight>
                <a:latin typeface="Arial"/>
                <a:ea typeface="Arial"/>
                <a:cs typeface="Arial"/>
                <a:sym typeface="Arial"/>
              </a:rPr>
              <a:t>servers</a:t>
            </a:r>
            <a:r>
              <a:rPr lang="fr" sz="1200">
                <a:solidFill>
                  <a:srgbClr val="333333"/>
                </a:solidFill>
                <a:highlight>
                  <a:srgbClr val="FFFFFF"/>
                </a:highlight>
                <a:latin typeface="Arial"/>
                <a:ea typeface="Arial"/>
                <a:cs typeface="Arial"/>
                <a:sym typeface="Arial"/>
              </a:rPr>
              <a:t>. A simplified diagram of how they interact might look like this:</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pic>
        <p:nvPicPr>
          <p:cNvPr id="74" name="Google Shape;74;p15"/>
          <p:cNvPicPr preferRelativeResize="0"/>
          <p:nvPr/>
        </p:nvPicPr>
        <p:blipFill>
          <a:blip r:embed="rId3">
            <a:alphaModFix/>
          </a:blip>
          <a:stretch>
            <a:fillRect/>
          </a:stretch>
        </p:blipFill>
        <p:spPr>
          <a:xfrm>
            <a:off x="290500" y="2097888"/>
            <a:ext cx="8562975" cy="2790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a:t>The other parts of the toolbox</a:t>
            </a:r>
            <a:endParaRPr b="1"/>
          </a:p>
        </p:txBody>
      </p:sp>
      <p:sp>
        <p:nvSpPr>
          <p:cNvPr id="80" name="Google Shape;80;p16"/>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rgbClr val="333333"/>
                </a:solidFill>
                <a:highlight>
                  <a:srgbClr val="FFFFFF"/>
                </a:highlight>
                <a:latin typeface="Arial"/>
                <a:ea typeface="Arial"/>
                <a:cs typeface="Arial"/>
                <a:sym typeface="Arial"/>
              </a:rPr>
              <a:t>In addition to the client and the server, we also need to say hello to:</a:t>
            </a:r>
            <a:endParaRPr sz="1200">
              <a:solidFill>
                <a:srgbClr val="333333"/>
              </a:solidFill>
              <a:highlight>
                <a:srgbClr val="FFFFFF"/>
              </a:highlight>
              <a:latin typeface="Arial"/>
              <a:ea typeface="Arial"/>
              <a:cs typeface="Arial"/>
              <a:sym typeface="Arial"/>
            </a:endParaRPr>
          </a:p>
          <a:p>
            <a:pPr indent="0" lvl="0" marL="0" rtl="0" algn="l">
              <a:spcBef>
                <a:spcPts val="18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sp>
        <p:nvSpPr>
          <p:cNvPr id="81" name="Google Shape;81;p16"/>
          <p:cNvSpPr/>
          <p:nvPr/>
        </p:nvSpPr>
        <p:spPr>
          <a:xfrm>
            <a:off x="396475" y="1939525"/>
            <a:ext cx="1789500" cy="77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your internet connection</a:t>
            </a:r>
            <a:endParaRPr/>
          </a:p>
        </p:txBody>
      </p:sp>
      <p:sp>
        <p:nvSpPr>
          <p:cNvPr id="82" name="Google Shape;82;p16"/>
          <p:cNvSpPr/>
          <p:nvPr/>
        </p:nvSpPr>
        <p:spPr>
          <a:xfrm>
            <a:off x="396475" y="2930125"/>
            <a:ext cx="1789500" cy="77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TCP/IP</a:t>
            </a:r>
            <a:endParaRPr/>
          </a:p>
        </p:txBody>
      </p:sp>
      <p:sp>
        <p:nvSpPr>
          <p:cNvPr id="83" name="Google Shape;83;p16"/>
          <p:cNvSpPr/>
          <p:nvPr/>
        </p:nvSpPr>
        <p:spPr>
          <a:xfrm>
            <a:off x="396475" y="3920725"/>
            <a:ext cx="1789500" cy="77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DNS</a:t>
            </a:r>
            <a:endParaRPr/>
          </a:p>
        </p:txBody>
      </p:sp>
      <p:sp>
        <p:nvSpPr>
          <p:cNvPr id="84" name="Google Shape;84;p16"/>
          <p:cNvSpPr/>
          <p:nvPr/>
        </p:nvSpPr>
        <p:spPr>
          <a:xfrm>
            <a:off x="3220600" y="1939525"/>
            <a:ext cx="1789500" cy="77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HTTP</a:t>
            </a:r>
            <a:endParaRPr/>
          </a:p>
        </p:txBody>
      </p:sp>
      <p:sp>
        <p:nvSpPr>
          <p:cNvPr id="85" name="Google Shape;85;p16"/>
          <p:cNvSpPr/>
          <p:nvPr/>
        </p:nvSpPr>
        <p:spPr>
          <a:xfrm>
            <a:off x="3215875" y="2930125"/>
            <a:ext cx="1789500" cy="163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components files :</a:t>
            </a:r>
            <a:endParaRPr/>
          </a:p>
          <a:p>
            <a:pPr indent="0" lvl="0" marL="0" rtl="0" algn="l">
              <a:spcBef>
                <a:spcPts val="0"/>
              </a:spcBef>
              <a:spcAft>
                <a:spcPts val="0"/>
              </a:spcAft>
              <a:buNone/>
            </a:pPr>
            <a:r>
              <a:rPr lang="fr"/>
              <a:t>- </a:t>
            </a:r>
            <a:r>
              <a:rPr lang="fr"/>
              <a:t>codes files</a:t>
            </a:r>
            <a:endParaRPr/>
          </a:p>
          <a:p>
            <a:pPr indent="0" lvl="0" marL="0" rtl="0" algn="l">
              <a:spcBef>
                <a:spcPts val="0"/>
              </a:spcBef>
              <a:spcAft>
                <a:spcPts val="0"/>
              </a:spcAft>
              <a:buNone/>
            </a:pPr>
            <a:r>
              <a:rPr lang="fr"/>
              <a:t>- assets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a:t>So what happens, exactly ?</a:t>
            </a:r>
            <a:endParaRPr b="1"/>
          </a:p>
        </p:txBody>
      </p:sp>
      <p:sp>
        <p:nvSpPr>
          <p:cNvPr id="91" name="Google Shape;91;p17"/>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rgbClr val="333333"/>
                </a:solidFill>
                <a:highlight>
                  <a:srgbClr val="FFFFFF"/>
                </a:highlight>
                <a:latin typeface="Arial"/>
                <a:ea typeface="Arial"/>
                <a:cs typeface="Arial"/>
                <a:sym typeface="Arial"/>
              </a:rPr>
              <a:t>When you type a web address into your browser (for our analogy that's like walking to the shop):</a:t>
            </a:r>
            <a:endParaRPr sz="1200">
              <a:solidFill>
                <a:srgbClr val="333333"/>
              </a:solidFill>
              <a:highlight>
                <a:srgbClr val="FFFFFF"/>
              </a:highlight>
              <a:latin typeface="Arial"/>
              <a:ea typeface="Arial"/>
              <a:cs typeface="Arial"/>
              <a:sym typeface="Arial"/>
            </a:endParaRPr>
          </a:p>
          <a:p>
            <a:pPr indent="-304800" lvl="0" marL="457200" rtl="0" algn="l">
              <a:spcBef>
                <a:spcPts val="1800"/>
              </a:spcBef>
              <a:spcAft>
                <a:spcPts val="0"/>
              </a:spcAft>
              <a:buClr>
                <a:srgbClr val="333333"/>
              </a:buClr>
              <a:buSzPts val="1200"/>
              <a:buFont typeface="Arial"/>
              <a:buAutoNum type="arabicPeriod"/>
            </a:pPr>
            <a:r>
              <a:rPr lang="fr" sz="1200">
                <a:solidFill>
                  <a:srgbClr val="333333"/>
                </a:solidFill>
                <a:highlight>
                  <a:srgbClr val="FFFFFF"/>
                </a:highlight>
                <a:latin typeface="Arial"/>
                <a:ea typeface="Arial"/>
                <a:cs typeface="Arial"/>
                <a:sym typeface="Arial"/>
              </a:rPr>
              <a:t>The browser goes to the DNS server, and finds the real address of the server that the website lives on (you find the address of the shop).</a:t>
            </a:r>
            <a:endParaRPr sz="1200">
              <a:solidFill>
                <a:srgbClr val="333333"/>
              </a:solidFill>
              <a:highlight>
                <a:srgbClr val="FFFFFF"/>
              </a:highlight>
              <a:latin typeface="Arial"/>
              <a:ea typeface="Arial"/>
              <a:cs typeface="Arial"/>
              <a:sym typeface="Arial"/>
            </a:endParaRPr>
          </a:p>
          <a:p>
            <a:pPr indent="-304800" lvl="0" marL="457200" rtl="0" algn="l">
              <a:spcBef>
                <a:spcPts val="0"/>
              </a:spcBef>
              <a:spcAft>
                <a:spcPts val="0"/>
              </a:spcAft>
              <a:buClr>
                <a:srgbClr val="333333"/>
              </a:buClr>
              <a:buSzPts val="1200"/>
              <a:buFont typeface="Arial"/>
              <a:buAutoNum type="arabicPeriod"/>
            </a:pPr>
            <a:r>
              <a:rPr lang="fr" sz="1200">
                <a:solidFill>
                  <a:srgbClr val="333333"/>
                </a:solidFill>
                <a:highlight>
                  <a:srgbClr val="FFFFFF"/>
                </a:highlight>
                <a:latin typeface="Arial"/>
                <a:ea typeface="Arial"/>
                <a:cs typeface="Arial"/>
                <a:sym typeface="Arial"/>
              </a:rPr>
              <a:t>The browser sends an HTTP request message to the server, asking it to send a copy of the website to the client (you go to the shop and order your goods). This message, and all other data sent between the client and the server, is sent across your internet connection using TCP/IP.</a:t>
            </a:r>
            <a:endParaRPr sz="1200">
              <a:solidFill>
                <a:srgbClr val="333333"/>
              </a:solidFill>
              <a:highlight>
                <a:srgbClr val="FFFFFF"/>
              </a:highlight>
              <a:latin typeface="Arial"/>
              <a:ea typeface="Arial"/>
              <a:cs typeface="Arial"/>
              <a:sym typeface="Arial"/>
            </a:endParaRPr>
          </a:p>
          <a:p>
            <a:pPr indent="-304800" lvl="0" marL="457200" rtl="0" algn="l">
              <a:spcBef>
                <a:spcPts val="0"/>
              </a:spcBef>
              <a:spcAft>
                <a:spcPts val="0"/>
              </a:spcAft>
              <a:buClr>
                <a:srgbClr val="333333"/>
              </a:buClr>
              <a:buSzPts val="1200"/>
              <a:buFont typeface="Arial"/>
              <a:buAutoNum type="arabicPeriod"/>
            </a:pPr>
            <a:r>
              <a:rPr lang="fr" sz="1200">
                <a:solidFill>
                  <a:srgbClr val="333333"/>
                </a:solidFill>
                <a:highlight>
                  <a:srgbClr val="FFFFFF"/>
                </a:highlight>
                <a:latin typeface="Arial"/>
                <a:ea typeface="Arial"/>
                <a:cs typeface="Arial"/>
                <a:sym typeface="Arial"/>
              </a:rPr>
              <a:t>If the server approves the client's request, the server sends the client a "200 OK" message, which means "Of course you can look at that website! Here it is", and then starts sending the website's files to the browser as a series of small chunks called data packets (the shop gives you your goods, and you bring them back to your house).</a:t>
            </a:r>
            <a:endParaRPr sz="1200">
              <a:solidFill>
                <a:srgbClr val="333333"/>
              </a:solidFill>
              <a:highlight>
                <a:srgbClr val="FFFFFF"/>
              </a:highlight>
              <a:latin typeface="Arial"/>
              <a:ea typeface="Arial"/>
              <a:cs typeface="Arial"/>
              <a:sym typeface="Arial"/>
            </a:endParaRPr>
          </a:p>
          <a:p>
            <a:pPr indent="-304800" lvl="0" marL="457200" rtl="0" algn="l">
              <a:spcBef>
                <a:spcPts val="0"/>
              </a:spcBef>
              <a:spcAft>
                <a:spcPts val="0"/>
              </a:spcAft>
              <a:buClr>
                <a:srgbClr val="333333"/>
              </a:buClr>
              <a:buSzPts val="1200"/>
              <a:buFont typeface="Arial"/>
              <a:buAutoNum type="arabicPeriod"/>
            </a:pPr>
            <a:r>
              <a:rPr lang="fr" sz="1200">
                <a:solidFill>
                  <a:srgbClr val="333333"/>
                </a:solidFill>
                <a:highlight>
                  <a:srgbClr val="FFFFFF"/>
                </a:highlight>
                <a:latin typeface="Arial"/>
                <a:ea typeface="Arial"/>
                <a:cs typeface="Arial"/>
                <a:sym typeface="Arial"/>
              </a:rPr>
              <a:t>The browser assembles the small chunks into a complete web page and displays it to you (the goods arrive at your door — new shiny stuff, awesome!).</a:t>
            </a:r>
            <a:endParaRPr sz="1200">
              <a:solidFill>
                <a:srgbClr val="333333"/>
              </a:solidFill>
              <a:highlight>
                <a:srgbClr val="FFFFFF"/>
              </a:highlight>
              <a:latin typeface="Arial"/>
              <a:ea typeface="Arial"/>
              <a:cs typeface="Arial"/>
              <a:sym typeface="Arial"/>
            </a:endParaRPr>
          </a:p>
          <a:p>
            <a:pPr indent="0" lvl="0" marL="0" rtl="0" algn="l">
              <a:spcBef>
                <a:spcPts val="41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What do you need to be a web developer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idx="1" type="body"/>
          </p:nvPr>
        </p:nvSpPr>
        <p:spPr>
          <a:xfrm>
            <a:off x="311700" y="347875"/>
            <a:ext cx="8520600" cy="4407300"/>
          </a:xfrm>
          <a:prstGeom prst="rect">
            <a:avLst/>
          </a:prstGeom>
        </p:spPr>
        <p:txBody>
          <a:bodyPr anchorCtr="0" anchor="t" bIns="91425" lIns="91425" spcFirstLastPara="1" rIns="91425" wrap="square" tIns="91425">
            <a:noAutofit/>
          </a:bodyPr>
          <a:lstStyle/>
          <a:p>
            <a:pPr indent="0" lvl="0" marL="0" rtl="0" algn="l">
              <a:lnSpc>
                <a:spcPct val="160000"/>
              </a:lnSpc>
              <a:spcBef>
                <a:spcPts val="0"/>
              </a:spcBef>
              <a:spcAft>
                <a:spcPts val="0"/>
              </a:spcAft>
              <a:buNone/>
            </a:pPr>
            <a:r>
              <a:t/>
            </a:r>
            <a:endParaRPr sz="1200">
              <a:solidFill>
                <a:srgbClr val="191D22"/>
              </a:solidFill>
              <a:highlight>
                <a:srgbClr val="FEFEFE"/>
              </a:highlight>
              <a:latin typeface="Arial"/>
              <a:ea typeface="Arial"/>
              <a:cs typeface="Arial"/>
              <a:sym typeface="Arial"/>
            </a:endParaRPr>
          </a:p>
          <a:p>
            <a:pPr indent="0" lvl="0" marL="0" rtl="0" algn="l">
              <a:lnSpc>
                <a:spcPct val="160000"/>
              </a:lnSpc>
              <a:spcBef>
                <a:spcPts val="1200"/>
              </a:spcBef>
              <a:spcAft>
                <a:spcPts val="0"/>
              </a:spcAft>
              <a:buNone/>
            </a:pPr>
            <a:r>
              <a:rPr lang="fr" sz="1200">
                <a:solidFill>
                  <a:srgbClr val="191D22"/>
                </a:solidFill>
                <a:highlight>
                  <a:srgbClr val="FEFEFE"/>
                </a:highlight>
                <a:latin typeface="Arial"/>
                <a:ea typeface="Arial"/>
                <a:cs typeface="Arial"/>
                <a:sym typeface="Arial"/>
              </a:rPr>
              <a:t>In order to be a web developer you should be familiar with :</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120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User experience (UX)</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User interface (UI)</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Visual design</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Coding languages including HTML and CSS</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Frontend web programing languages and skills such as JavaScript, Ajax and web animation techniques</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Backend web programing languages such as C# or Java, PHP and Ruby</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Char char="●"/>
            </a:pPr>
            <a:r>
              <a:rPr lang="fr" sz="1200">
                <a:solidFill>
                  <a:srgbClr val="191D22"/>
                </a:solidFill>
                <a:highlight>
                  <a:srgbClr val="FEFEFE"/>
                </a:highlight>
                <a:latin typeface="Arial"/>
                <a:ea typeface="Arial"/>
                <a:cs typeface="Arial"/>
                <a:sym typeface="Arial"/>
              </a:rPr>
              <a:t>Web servers and how they function</a:t>
            </a:r>
            <a:endParaRPr sz="1200">
              <a:solidFill>
                <a:srgbClr val="191D22"/>
              </a:solidFill>
              <a:highlight>
                <a:srgbClr val="FEFEFE"/>
              </a:highlight>
              <a:latin typeface="Arial"/>
              <a:ea typeface="Arial"/>
              <a:cs typeface="Arial"/>
              <a:sym typeface="Arial"/>
            </a:endParaRPr>
          </a:p>
          <a:p>
            <a:pPr indent="0" lvl="0" marL="0" rtl="0" algn="l">
              <a:spcBef>
                <a:spcPts val="12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41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430800" y="1889700"/>
            <a:ext cx="8282400" cy="151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what’s the role of web developer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a:t>What does a web developer do ?</a:t>
            </a:r>
            <a:endParaRPr b="1"/>
          </a:p>
        </p:txBody>
      </p:sp>
      <p:sp>
        <p:nvSpPr>
          <p:cNvPr id="112" name="Google Shape;112;p21"/>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lnSpc>
                <a:spcPct val="160000"/>
              </a:lnSpc>
              <a:spcBef>
                <a:spcPts val="0"/>
              </a:spcBef>
              <a:spcAft>
                <a:spcPts val="0"/>
              </a:spcAft>
              <a:buNone/>
            </a:pPr>
            <a:r>
              <a:rPr lang="fr" sz="1200">
                <a:solidFill>
                  <a:srgbClr val="191D22"/>
                </a:solidFill>
                <a:highlight>
                  <a:srgbClr val="FEFEFE"/>
                </a:highlight>
                <a:latin typeface="Arial"/>
                <a:ea typeface="Arial"/>
                <a:cs typeface="Arial"/>
                <a:sym typeface="Arial"/>
              </a:rPr>
              <a:t>Also known as web programmers or web coders, web developers essentially make a website work by building the functionality, interactivity and visible structure of the site, normally based on the vision of designers and other key roles.</a:t>
            </a:r>
            <a:endParaRPr sz="1200">
              <a:solidFill>
                <a:srgbClr val="191D22"/>
              </a:solidFill>
              <a:highlight>
                <a:srgbClr val="FEFEFE"/>
              </a:highlight>
              <a:latin typeface="Arial"/>
              <a:ea typeface="Arial"/>
              <a:cs typeface="Arial"/>
              <a:sym typeface="Arial"/>
            </a:endParaRPr>
          </a:p>
          <a:p>
            <a:pPr indent="0" lvl="0" marL="0" rtl="0" algn="l">
              <a:lnSpc>
                <a:spcPct val="160000"/>
              </a:lnSpc>
              <a:spcBef>
                <a:spcPts val="1200"/>
              </a:spcBef>
              <a:spcAft>
                <a:spcPts val="0"/>
              </a:spcAft>
              <a:buNone/>
            </a:pPr>
            <a:r>
              <a:rPr lang="fr" sz="1200">
                <a:solidFill>
                  <a:srgbClr val="191D22"/>
                </a:solidFill>
                <a:highlight>
                  <a:srgbClr val="FEFEFE"/>
                </a:highlight>
                <a:latin typeface="Arial"/>
                <a:ea typeface="Arial"/>
                <a:cs typeface="Arial"/>
                <a:sym typeface="Arial"/>
              </a:rPr>
              <a:t>Web developers are also responsible for ensuring a site functions correctly on all browsers - both desktop and mobile - through testing. Once a site is live, a developer carries out  updates and other maintenance tasks as necessary.</a:t>
            </a:r>
            <a:endParaRPr sz="1200">
              <a:solidFill>
                <a:srgbClr val="191D22"/>
              </a:solidFill>
              <a:highlight>
                <a:srgbClr val="FEFEFE"/>
              </a:highlight>
              <a:latin typeface="Arial"/>
              <a:ea typeface="Arial"/>
              <a:cs typeface="Arial"/>
              <a:sym typeface="Arial"/>
            </a:endParaRPr>
          </a:p>
          <a:p>
            <a:pPr indent="0" lvl="0" marL="457200" rtl="0" algn="l">
              <a:spcBef>
                <a:spcPts val="12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41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fr"/>
              <a:t>web developer career progression</a:t>
            </a:r>
            <a:endParaRPr b="1"/>
          </a:p>
        </p:txBody>
      </p:sp>
      <p:sp>
        <p:nvSpPr>
          <p:cNvPr id="118" name="Google Shape;118;p22"/>
          <p:cNvSpPr txBox="1"/>
          <p:nvPr>
            <p:ph idx="1" type="body"/>
          </p:nvPr>
        </p:nvSpPr>
        <p:spPr>
          <a:xfrm>
            <a:off x="311700" y="1468825"/>
            <a:ext cx="8520600" cy="3099900"/>
          </a:xfrm>
          <a:prstGeom prst="rect">
            <a:avLst/>
          </a:prstGeom>
        </p:spPr>
        <p:txBody>
          <a:bodyPr anchorCtr="0" anchor="t" bIns="91425" lIns="91425" spcFirstLastPara="1" rIns="91425" wrap="square" tIns="91425">
            <a:noAutofit/>
          </a:bodyPr>
          <a:lstStyle/>
          <a:p>
            <a:pPr indent="0" lvl="0" marL="0" rtl="0" algn="l">
              <a:lnSpc>
                <a:spcPct val="160000"/>
              </a:lnSpc>
              <a:spcBef>
                <a:spcPts val="0"/>
              </a:spcBef>
              <a:spcAft>
                <a:spcPts val="0"/>
              </a:spcAft>
              <a:buNone/>
            </a:pPr>
            <a:r>
              <a:rPr lang="fr" sz="1200">
                <a:solidFill>
                  <a:srgbClr val="191D22"/>
                </a:solidFill>
                <a:highlight>
                  <a:srgbClr val="FEFEFE"/>
                </a:highlight>
                <a:latin typeface="Arial"/>
                <a:ea typeface="Arial"/>
                <a:cs typeface="Arial"/>
                <a:sym typeface="Arial"/>
              </a:rPr>
              <a:t>How you develop your career in web development will depend on your chosen area of specialism.</a:t>
            </a:r>
            <a:endParaRPr sz="1200">
              <a:solidFill>
                <a:srgbClr val="191D22"/>
              </a:solidFill>
              <a:highlight>
                <a:srgbClr val="FEFEFE"/>
              </a:highlight>
              <a:latin typeface="Arial"/>
              <a:ea typeface="Arial"/>
              <a:cs typeface="Arial"/>
              <a:sym typeface="Arial"/>
            </a:endParaRPr>
          </a:p>
          <a:p>
            <a:pPr indent="0" lvl="0" marL="0" rtl="0" algn="l">
              <a:lnSpc>
                <a:spcPct val="160000"/>
              </a:lnSpc>
              <a:spcBef>
                <a:spcPts val="1200"/>
              </a:spcBef>
              <a:spcAft>
                <a:spcPts val="0"/>
              </a:spcAft>
              <a:buNone/>
            </a:pPr>
            <a:r>
              <a:rPr lang="fr" sz="1200">
                <a:solidFill>
                  <a:srgbClr val="191D22"/>
                </a:solidFill>
                <a:highlight>
                  <a:srgbClr val="FEFEFE"/>
                </a:highlight>
                <a:latin typeface="Arial"/>
                <a:ea typeface="Arial"/>
                <a:cs typeface="Arial"/>
                <a:sym typeface="Arial"/>
              </a:rPr>
              <a:t>There are three areas of specialism within web development:</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1200"/>
              </a:spcBef>
              <a:spcAft>
                <a:spcPts val="0"/>
              </a:spcAft>
              <a:buClr>
                <a:srgbClr val="191D22"/>
              </a:buClr>
              <a:buSzPts val="1200"/>
              <a:buFont typeface="Arial"/>
              <a:buAutoNum type="arabicPeriod"/>
            </a:pPr>
            <a:r>
              <a:rPr lang="fr" sz="1200">
                <a:solidFill>
                  <a:srgbClr val="191D22"/>
                </a:solidFill>
                <a:highlight>
                  <a:srgbClr val="FEFEFE"/>
                </a:highlight>
                <a:latin typeface="Arial"/>
                <a:ea typeface="Arial"/>
                <a:cs typeface="Arial"/>
                <a:sym typeface="Arial"/>
              </a:rPr>
              <a:t>Frontend development - the ‘frontend’ refers to elements on a website that you see and interact with, such as a search box and the site navigation</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AutoNum type="arabicPeriod"/>
            </a:pPr>
            <a:r>
              <a:rPr lang="fr" sz="1200">
                <a:solidFill>
                  <a:srgbClr val="191D22"/>
                </a:solidFill>
                <a:highlight>
                  <a:srgbClr val="FEFEFE"/>
                </a:highlight>
                <a:latin typeface="Arial"/>
                <a:ea typeface="Arial"/>
                <a:cs typeface="Arial"/>
                <a:sym typeface="Arial"/>
              </a:rPr>
              <a:t>Backend development - the ‘backend’ is essential to ensure a website is able to function. It includes elements such as servers and databases</a:t>
            </a:r>
            <a:endParaRPr sz="1200">
              <a:solidFill>
                <a:srgbClr val="191D22"/>
              </a:solidFill>
              <a:highlight>
                <a:srgbClr val="FEFEFE"/>
              </a:highlight>
              <a:latin typeface="Arial"/>
              <a:ea typeface="Arial"/>
              <a:cs typeface="Arial"/>
              <a:sym typeface="Arial"/>
            </a:endParaRPr>
          </a:p>
          <a:p>
            <a:pPr indent="-304800" lvl="0" marL="457200" rtl="0" algn="l">
              <a:lnSpc>
                <a:spcPct val="160000"/>
              </a:lnSpc>
              <a:spcBef>
                <a:spcPts val="0"/>
              </a:spcBef>
              <a:spcAft>
                <a:spcPts val="0"/>
              </a:spcAft>
              <a:buClr>
                <a:srgbClr val="191D22"/>
              </a:buClr>
              <a:buSzPts val="1200"/>
              <a:buFont typeface="Arial"/>
              <a:buAutoNum type="arabicPeriod"/>
            </a:pPr>
            <a:r>
              <a:rPr lang="fr" sz="1200">
                <a:solidFill>
                  <a:srgbClr val="191D22"/>
                </a:solidFill>
                <a:highlight>
                  <a:srgbClr val="FEFEFE"/>
                </a:highlight>
                <a:latin typeface="Arial"/>
                <a:ea typeface="Arial"/>
                <a:cs typeface="Arial"/>
                <a:sym typeface="Arial"/>
              </a:rPr>
              <a:t>Full stack development - this encompasses both backend and frontend development but is becoming less popular as the industry expands and there is a greater specialism in frontend or backend development</a:t>
            </a:r>
            <a:endParaRPr sz="1200">
              <a:solidFill>
                <a:srgbClr val="191D22"/>
              </a:solidFill>
              <a:highlight>
                <a:srgbClr val="FEFEFE"/>
              </a:highlight>
              <a:latin typeface="Arial"/>
              <a:ea typeface="Arial"/>
              <a:cs typeface="Arial"/>
              <a:sym typeface="Arial"/>
            </a:endParaRPr>
          </a:p>
          <a:p>
            <a:pPr indent="0" lvl="0" marL="0" rtl="0" algn="l">
              <a:lnSpc>
                <a:spcPct val="160000"/>
              </a:lnSpc>
              <a:spcBef>
                <a:spcPts val="1200"/>
              </a:spcBef>
              <a:spcAft>
                <a:spcPts val="0"/>
              </a:spcAft>
              <a:buNone/>
            </a:pPr>
            <a:r>
              <a:t/>
            </a:r>
            <a:endParaRPr sz="1200">
              <a:solidFill>
                <a:srgbClr val="191D22"/>
              </a:solidFill>
              <a:highlight>
                <a:srgbClr val="FEFEFE"/>
              </a:highlight>
              <a:latin typeface="Arial"/>
              <a:ea typeface="Arial"/>
              <a:cs typeface="Arial"/>
              <a:sym typeface="Arial"/>
            </a:endParaRPr>
          </a:p>
          <a:p>
            <a:pPr indent="0" lvl="0" marL="457200" rtl="0" algn="l">
              <a:spcBef>
                <a:spcPts val="12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4100"/>
              </a:spcBef>
              <a:spcAft>
                <a:spcPts val="0"/>
              </a:spcAft>
              <a:buNone/>
            </a:pPr>
            <a:r>
              <a:t/>
            </a:r>
            <a:endParaRPr sz="1200">
              <a:solidFill>
                <a:srgbClr val="333333"/>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200">
              <a:solidFill>
                <a:srgbClr val="333333"/>
              </a:solidFill>
              <a:highlight>
                <a:srgbClr val="FFFFFF"/>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